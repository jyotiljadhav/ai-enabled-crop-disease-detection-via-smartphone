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8" r:id="rId9"/>
    <p:sldId id="262" r:id="rId10"/>
    <p:sldId id="264" r:id="rId11"/>
    <p:sldId id="265" r:id="rId12"/>
    <p:sldId id="269" r:id="rId13"/>
    <p:sldId id="266" r:id="rId14"/>
    <p:sldId id="267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9596E-8614-4E3A-ABF2-81BB10C29742}" type="datetimeFigureOut">
              <a:rPr lang="en-AU" smtClean="0"/>
              <a:t>29/04/2026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2F235E-CCDE-4083-ABDD-FB683161A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31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2F235E-CCDE-4083-ABDD-FB683161AA47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2992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4/29/2026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4/29/2026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4/29/2026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53980-5771-BDE2-F392-1957509459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7008" y="513078"/>
            <a:ext cx="8950272" cy="2268559"/>
          </a:xfrm>
        </p:spPr>
        <p:txBody>
          <a:bodyPr>
            <a:normAutofit fontScale="90000"/>
          </a:bodyPr>
          <a:lstStyle/>
          <a:p>
            <a:pPr algn="l">
              <a:spcAft>
                <a:spcPts val="1200"/>
              </a:spcAft>
            </a:pPr>
            <a:r>
              <a:rPr lang="en-AU" sz="4000" dirty="0"/>
              <a:t>SAMSUNG INNOVATION CAMPUS</a:t>
            </a:r>
            <a:br>
              <a:rPr lang="en-AU" sz="5300" dirty="0"/>
            </a:br>
            <a:br>
              <a:rPr lang="en-AU" sz="2200" dirty="0"/>
            </a:br>
            <a:r>
              <a:rPr lang="en-AU" sz="2200" dirty="0"/>
              <a:t>Project : AI-Enabled Crop Disease Detection via Smartphone Images</a:t>
            </a:r>
            <a:br>
              <a:rPr lang="en-AU" sz="2200" dirty="0"/>
            </a:br>
            <a:br>
              <a:rPr lang="en-AU" sz="2200" dirty="0"/>
            </a:br>
            <a:r>
              <a:rPr lang="en-US" sz="2200" dirty="0"/>
              <a:t>Subtitle: Leveraging Deep Learning and Explainable AI for Precision Agriculture</a:t>
            </a:r>
            <a:br>
              <a:rPr lang="en-US" sz="2200" dirty="0"/>
            </a:br>
            <a:br>
              <a:rPr lang="en-AU" dirty="0"/>
            </a:b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39E439-E771-E350-F4AF-A3C04324E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6960" y="2781637"/>
            <a:ext cx="5357600" cy="3918883"/>
          </a:xfrm>
        </p:spPr>
        <p:txBody>
          <a:bodyPr>
            <a:normAutofit/>
          </a:bodyPr>
          <a:lstStyle/>
          <a:p>
            <a:pPr algn="l"/>
            <a:endParaRPr lang="en-IN" sz="1600" dirty="0"/>
          </a:p>
          <a:p>
            <a:pPr algn="l"/>
            <a:r>
              <a:rPr lang="en-IN" sz="1600" dirty="0"/>
              <a:t>Presented by:</a:t>
            </a:r>
          </a:p>
          <a:p>
            <a:pPr algn="l"/>
            <a:r>
              <a:rPr lang="en-IN" sz="1600" dirty="0"/>
              <a:t>NAME : JYOTI JADHAV</a:t>
            </a:r>
          </a:p>
          <a:p>
            <a:pPr algn="l"/>
            <a:r>
              <a:rPr lang="en-AU" sz="1600" dirty="0"/>
              <a:t>USN : 2KE23CS405</a:t>
            </a:r>
          </a:p>
          <a:p>
            <a:pPr algn="l"/>
            <a:r>
              <a:rPr lang="en-IN" sz="1600" dirty="0"/>
              <a:t>DEPT : CSE</a:t>
            </a:r>
          </a:p>
          <a:p>
            <a:pPr algn="l"/>
            <a:r>
              <a:rPr lang="en-IN" sz="1600" dirty="0"/>
              <a:t>DOMAIN : AIML </a:t>
            </a:r>
          </a:p>
          <a:p>
            <a:pPr algn="l"/>
            <a:endParaRPr lang="en-AU" sz="1000" dirty="0"/>
          </a:p>
        </p:txBody>
      </p:sp>
    </p:spTree>
    <p:extLst>
      <p:ext uri="{BB962C8B-B14F-4D97-AF65-F5344CB8AC3E}">
        <p14:creationId xmlns:p14="http://schemas.microsoft.com/office/powerpoint/2010/main" val="3311120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1DD8E-FED4-3566-0C0D-FC7FCD9F3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PROBLEM STATEMENT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ABC33-333E-ECAA-19D3-745CAFE46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1808" y="1430188"/>
            <a:ext cx="7796540" cy="2290744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Manual plant disease detection is slow and often inaccurate, especially where expert access is </a:t>
            </a:r>
            <a:r>
              <a:rPr lang="en-US" dirty="0" err="1"/>
              <a:t>limited.An</a:t>
            </a:r>
            <a:r>
              <a:rPr lang="en-US" dirty="0"/>
              <a:t> AI-based system can automatically identify diseases from leaf images and provide timely solutions to improve crop yield.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7433451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A71428E-2DD3-751B-0397-32258F412E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3762" y="84386"/>
            <a:ext cx="5357600" cy="1160213"/>
          </a:xfrm>
        </p:spPr>
        <p:txBody>
          <a:bodyPr>
            <a:normAutofit/>
          </a:bodyPr>
          <a:lstStyle/>
          <a:p>
            <a:pPr algn="l"/>
            <a:r>
              <a:rPr lang="en-AU" sz="3200" dirty="0"/>
              <a:t>OBJECTIVES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6A70EB3-8BC3-61B0-0530-11AB92D830E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657033" y="1938402"/>
            <a:ext cx="7064819" cy="1431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develop a deep learning model for plant disease classification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automate disease detection using leaf images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provide instant prediction results with remedies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build a user-friendly web interface for farmers </a:t>
            </a:r>
          </a:p>
        </p:txBody>
      </p:sp>
    </p:spTree>
    <p:extLst>
      <p:ext uri="{BB962C8B-B14F-4D97-AF65-F5344CB8AC3E}">
        <p14:creationId xmlns:p14="http://schemas.microsoft.com/office/powerpoint/2010/main" val="3856256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65152-ACC0-2FB4-8FAC-FC699D119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9088" y="655656"/>
            <a:ext cx="7958331" cy="1077229"/>
          </a:xfrm>
        </p:spPr>
        <p:txBody>
          <a:bodyPr/>
          <a:lstStyle/>
          <a:p>
            <a:pPr algn="l"/>
            <a:r>
              <a:rPr lang="en-IN" dirty="0"/>
              <a:t>INTRODUCTION</a:t>
            </a:r>
            <a:br>
              <a:rPr lang="en-IN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3EE0F-1033-4478-0073-390FC99D1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7730" y="1732885"/>
            <a:ext cx="7796540" cy="399782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Agriculture plays a vital role in the global economy </a:t>
            </a:r>
          </a:p>
          <a:p>
            <a:r>
              <a:rPr lang="en-US" dirty="0"/>
              <a:t>Crop diseases pose a significant threat to food production </a:t>
            </a:r>
          </a:p>
          <a:p>
            <a:r>
              <a:rPr lang="en-US" dirty="0"/>
              <a:t>Traditional disease identification relies on manual inspection </a:t>
            </a:r>
          </a:p>
          <a:p>
            <a:r>
              <a:rPr lang="en-US" dirty="0"/>
              <a:t>Manual methods are time-consuming and require expert knowledge </a:t>
            </a:r>
          </a:p>
          <a:p>
            <a:r>
              <a:rPr lang="en-US" dirty="0"/>
              <a:t>Artificial Intelligence and Deep Learning enable automated detection </a:t>
            </a:r>
          </a:p>
          <a:p>
            <a:r>
              <a:rPr lang="en-US" dirty="0"/>
              <a:t>This project uses a </a:t>
            </a:r>
            <a:r>
              <a:rPr lang="en-US" b="1" dirty="0"/>
              <a:t>CNN model</a:t>
            </a:r>
            <a:r>
              <a:rPr lang="en-US" dirty="0"/>
              <a:t> to detect diseases from leaf images </a:t>
            </a:r>
          </a:p>
          <a:p>
            <a:r>
              <a:rPr lang="en-US" dirty="0"/>
              <a:t>The system provides faster and more accurate diagnosis </a:t>
            </a:r>
          </a:p>
        </p:txBody>
      </p:sp>
    </p:spTree>
    <p:extLst>
      <p:ext uri="{BB962C8B-B14F-4D97-AF65-F5344CB8AC3E}">
        <p14:creationId xmlns:p14="http://schemas.microsoft.com/office/powerpoint/2010/main" val="142930536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A1592-496C-9143-DB46-59BBB3528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6421" y="432136"/>
            <a:ext cx="7958331" cy="1077229"/>
          </a:xfrm>
        </p:spPr>
        <p:txBody>
          <a:bodyPr/>
          <a:lstStyle/>
          <a:p>
            <a:pPr algn="l"/>
            <a:r>
              <a:rPr lang="en-US" b="1" dirty="0"/>
              <a:t>DATASET DESCRIPTION</a:t>
            </a:r>
            <a:br>
              <a:rPr lang="en-US" b="1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F3CF6-7BE9-392E-9828-22CFFBB97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4238" y="358305"/>
            <a:ext cx="9326961" cy="3997828"/>
          </a:xfrm>
        </p:spPr>
        <p:txBody>
          <a:bodyPr>
            <a:normAutofit/>
          </a:bodyPr>
          <a:lstStyle/>
          <a:p>
            <a:r>
              <a:rPr lang="en-US" sz="1800" dirty="0"/>
              <a:t>The dataset used is the Kaggle Plant Disease Dataset. It contains labeled images of plant leaves categorized into:</a:t>
            </a:r>
          </a:p>
          <a:p>
            <a:r>
              <a:rPr lang="en-US" sz="1800" dirty="0"/>
              <a:t>The dataset is divided into training, validation, and testing sets to ensure proper model evaluation and performance measurement.</a:t>
            </a:r>
          </a:p>
          <a:p>
            <a:endParaRPr lang="en-AU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FFF035-36A7-FF64-47A6-6CA4BD005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7100" y="3429000"/>
            <a:ext cx="2646047" cy="17675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545904-559D-6E7B-2C2D-7EAF82CD0D6A}"/>
              </a:ext>
            </a:extLst>
          </p:cNvPr>
          <p:cNvSpPr txBox="1"/>
          <p:nvPr/>
        </p:nvSpPr>
        <p:spPr>
          <a:xfrm>
            <a:off x="4497100" y="5257799"/>
            <a:ext cx="314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Powdery Mildew infected leaves</a:t>
            </a:r>
          </a:p>
          <a:p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E98201-6B73-5518-AB01-1BF4D6BF7870}"/>
              </a:ext>
            </a:extLst>
          </p:cNvPr>
          <p:cNvSpPr txBox="1"/>
          <p:nvPr/>
        </p:nvSpPr>
        <p:spPr>
          <a:xfrm>
            <a:off x="1697470" y="5317868"/>
            <a:ext cx="16979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Healthy leaves</a:t>
            </a:r>
          </a:p>
          <a:p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33C156-8D03-C294-CE2E-CB71B01B9F92}"/>
              </a:ext>
            </a:extLst>
          </p:cNvPr>
          <p:cNvSpPr txBox="1"/>
          <p:nvPr/>
        </p:nvSpPr>
        <p:spPr>
          <a:xfrm>
            <a:off x="7745071" y="5257799"/>
            <a:ext cx="2262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Rust infected leaves</a:t>
            </a:r>
          </a:p>
          <a:p>
            <a:endParaRPr lang="en-A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F92C70D-36B5-0C23-2D78-DE5992459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689" y="3392607"/>
            <a:ext cx="2646047" cy="17675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5386155-9ABC-F82D-49E4-AB3E585D0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4901" y="3423640"/>
            <a:ext cx="2362499" cy="169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266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7A594-2C63-066C-752C-E5B8487ED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AU" b="1" dirty="0"/>
              <a:t>TECHNOLOGIES USED</a:t>
            </a:r>
            <a:br>
              <a:rPr lang="en-AU" b="1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B1DE8-5FAD-4763-E2E3-AA42CFD3F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9919" y="1430086"/>
            <a:ext cx="7796540" cy="3997828"/>
          </a:xfrm>
        </p:spPr>
        <p:txBody>
          <a:bodyPr>
            <a:normAutofit/>
          </a:bodyPr>
          <a:lstStyle/>
          <a:p>
            <a:r>
              <a:rPr lang="en-AU" dirty="0"/>
              <a:t>Frontend: HTML5, CSS3 (Bootstrap), JavaScript (Chart.js for visualization).</a:t>
            </a:r>
          </a:p>
          <a:p>
            <a:r>
              <a:rPr lang="en-AU" dirty="0"/>
              <a:t>Backend: Flask (Python).</a:t>
            </a:r>
          </a:p>
          <a:p>
            <a:r>
              <a:rPr lang="en-AU" dirty="0"/>
              <a:t>AI Framework: TensorFlow &amp; </a:t>
            </a:r>
            <a:r>
              <a:rPr lang="en-AU" dirty="0" err="1"/>
              <a:t>Keras</a:t>
            </a:r>
            <a:r>
              <a:rPr lang="en-AU" dirty="0"/>
              <a:t>.</a:t>
            </a:r>
          </a:p>
          <a:p>
            <a:r>
              <a:rPr lang="en-AU" dirty="0"/>
              <a:t>Database: SQLite (for tracking prediction history).I</a:t>
            </a:r>
          </a:p>
          <a:p>
            <a:r>
              <a:rPr lang="en-AU" dirty="0"/>
              <a:t>mage Processing: OpenCV, NumPy, Pillow.</a:t>
            </a:r>
          </a:p>
          <a:p>
            <a:r>
              <a:rPr lang="en-AU" dirty="0"/>
              <a:t>Model :CNN</a:t>
            </a:r>
          </a:p>
        </p:txBody>
      </p:sp>
    </p:spTree>
    <p:extLst>
      <p:ext uri="{BB962C8B-B14F-4D97-AF65-F5344CB8AC3E}">
        <p14:creationId xmlns:p14="http://schemas.microsoft.com/office/powerpoint/2010/main" val="248348680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FD393-5590-0A59-C7AC-DDE2C2F9C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048" y="218776"/>
            <a:ext cx="7958331" cy="1077229"/>
          </a:xfrm>
        </p:spPr>
        <p:txBody>
          <a:bodyPr/>
          <a:lstStyle/>
          <a:p>
            <a:pPr algn="l"/>
            <a:r>
              <a:rPr lang="en-AU" dirty="0"/>
              <a:t>SYSTEM ARCHITECTURE</a:t>
            </a:r>
          </a:p>
        </p:txBody>
      </p:sp>
      <p:sp>
        <p:nvSpPr>
          <p:cNvPr id="4" name="AutoShape 2" descr="Leaf disease detection system architecture">
            <a:extLst>
              <a:ext uri="{FF2B5EF4-FFF2-40B4-BE49-F238E27FC236}">
                <a16:creationId xmlns:a16="http://schemas.microsoft.com/office/drawing/2014/main" id="{FF39986B-DD2B-55C0-00F8-305428836B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C44BF68-416B-7773-900B-C9B1134759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230048" y="792480"/>
            <a:ext cx="9336352" cy="5770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2456767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07044-D977-BCFA-54A4-AC5307B1D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688" y="472776"/>
            <a:ext cx="7958331" cy="1077229"/>
          </a:xfrm>
        </p:spPr>
        <p:txBody>
          <a:bodyPr>
            <a:normAutofit fontScale="90000"/>
          </a:bodyPr>
          <a:lstStyle/>
          <a:p>
            <a:pPr algn="l"/>
            <a:r>
              <a:rPr lang="en-AU" dirty="0"/>
              <a:t>AI Model </a:t>
            </a:r>
            <a:r>
              <a:rPr lang="en-AU" dirty="0" err="1"/>
              <a:t>ArchitectureType</a:t>
            </a:r>
            <a:r>
              <a:rPr lang="en-AU" dirty="0"/>
              <a:t>: </a:t>
            </a:r>
            <a:br>
              <a:rPr lang="en-AU" dirty="0"/>
            </a:br>
            <a:r>
              <a:rPr lang="en-AU" dirty="0"/>
              <a:t>Convolutional Neural Network (CNN).Structure: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8C2D2F-A934-A402-1F08-3490CCE8C67D}"/>
              </a:ext>
            </a:extLst>
          </p:cNvPr>
          <p:cNvSpPr txBox="1"/>
          <p:nvPr/>
        </p:nvSpPr>
        <p:spPr>
          <a:xfrm>
            <a:off x="2367281" y="2641600"/>
            <a:ext cx="7620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CNN (Convolutional Neural Network) is a Deep Learning model used for image processing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It automatically extracts features like edges, textures, and patterns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It learns from images without manual feature extraction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Used to classify images into different categories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In this project, CNN classifies leaf images into </a:t>
            </a:r>
            <a:r>
              <a:rPr lang="en-US" sz="2000" b="1" dirty="0"/>
              <a:t>Healthy, Powdery, and Rust</a:t>
            </a:r>
            <a:r>
              <a:rPr lang="en-US" sz="2000" dirty="0"/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2158599521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3AE55-92BB-8E4F-8469-648762500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369" y="976949"/>
            <a:ext cx="5486401" cy="5473061"/>
          </a:xfrm>
        </p:spPr>
        <p:txBody>
          <a:bodyPr>
            <a:normAutofit fontScale="90000"/>
          </a:bodyPr>
          <a:lstStyle/>
          <a:p>
            <a:pPr algn="l"/>
            <a:r>
              <a:rPr lang="en-AU" sz="2200" b="1" dirty="0"/>
              <a:t>How it works CNN</a:t>
            </a:r>
            <a:br>
              <a:rPr lang="en-AU" sz="2000" dirty="0"/>
            </a:br>
            <a:br>
              <a:rPr lang="en-AU" sz="2000" dirty="0"/>
            </a:br>
            <a:r>
              <a:rPr lang="en-US" sz="2000" dirty="0"/>
              <a:t>Input Image: A plant leaf image is given to the system 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Convolution Layer: </a:t>
            </a:r>
            <a:br>
              <a:rPr lang="en-US" sz="2000" dirty="0"/>
            </a:br>
            <a:r>
              <a:rPr lang="en-US" sz="2000" dirty="0"/>
              <a:t>Detects important features from the image </a:t>
            </a:r>
            <a:br>
              <a:rPr lang="en-US" sz="2000" dirty="0"/>
            </a:br>
            <a:r>
              <a:rPr lang="en-US" sz="2000" dirty="0"/>
              <a:t>Finds patterns like edges, spots, and textures 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Pooling Layer: </a:t>
            </a:r>
            <a:br>
              <a:rPr lang="en-US" sz="2000" dirty="0"/>
            </a:br>
            <a:r>
              <a:rPr lang="en-US" sz="2000" dirty="0"/>
              <a:t>Reduces image size </a:t>
            </a:r>
            <a:br>
              <a:rPr lang="en-US" sz="2000" dirty="0"/>
            </a:br>
            <a:r>
              <a:rPr lang="en-US" sz="2000" dirty="0"/>
              <a:t>Keeps only important features </a:t>
            </a:r>
            <a:br>
              <a:rPr lang="en-US" sz="2000" dirty="0"/>
            </a:br>
            <a:r>
              <a:rPr lang="en-US" sz="2000" dirty="0"/>
              <a:t>Makes processing faster 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Fully Connected Layer: </a:t>
            </a:r>
            <a:br>
              <a:rPr lang="en-US" sz="2000" dirty="0"/>
            </a:br>
            <a:r>
              <a:rPr lang="en-US" sz="2000" dirty="0"/>
              <a:t>Analyzes extracted features </a:t>
            </a:r>
            <a:br>
              <a:rPr lang="en-US" sz="2000" dirty="0"/>
            </a:br>
            <a:r>
              <a:rPr lang="en-US" sz="2000" dirty="0"/>
              <a:t>Makes final decision 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Output: </a:t>
            </a:r>
            <a:br>
              <a:rPr lang="en-US" sz="2000" dirty="0"/>
            </a:br>
            <a:r>
              <a:rPr lang="en-US" sz="2000" dirty="0"/>
              <a:t>Shows result as Disease or Healthy leaf </a:t>
            </a:r>
            <a:br>
              <a:rPr lang="en-US" sz="2000" dirty="0"/>
            </a:br>
            <a:r>
              <a:rPr lang="en-US" sz="2000" dirty="0"/>
              <a:t>Also gives confidence score </a:t>
            </a:r>
            <a:br>
              <a:rPr lang="en-US" sz="2000" dirty="0"/>
            </a:br>
            <a:br>
              <a:rPr lang="en-AU" sz="2400" dirty="0"/>
            </a:br>
            <a:r>
              <a:rPr lang="en-IN" sz="2400" dirty="0"/>
              <a:t> </a:t>
            </a:r>
            <a:br>
              <a:rPr lang="en-AU" sz="2400" dirty="0"/>
            </a:br>
            <a:endParaRPr lang="en-AU" sz="24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24D8ED7-0DB2-FE95-BBED-22B5723337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2033" y="576882"/>
            <a:ext cx="4038598" cy="57042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04963986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52261-3797-B0DB-38C2-9949E9750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Explainable AI (Grad-CAM)</a:t>
            </a:r>
            <a:br>
              <a:rPr lang="en-US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94D3D-8E7B-B38C-16C4-879BCC4ED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7730" y="1346670"/>
            <a:ext cx="7796540" cy="3997828"/>
          </a:xfrm>
        </p:spPr>
        <p:txBody>
          <a:bodyPr>
            <a:normAutofit fontScale="92500" lnSpcReduction="20000"/>
          </a:bodyPr>
          <a:lstStyle/>
          <a:p>
            <a:endParaRPr lang="en-US" dirty="0"/>
          </a:p>
          <a:p>
            <a:r>
              <a:rPr lang="en-US" dirty="0"/>
              <a:t>Feature: Visualizing the AI's "thought process.“</a:t>
            </a:r>
          </a:p>
          <a:p>
            <a:r>
              <a:rPr lang="en-US" dirty="0"/>
              <a:t>How it works: It uses gradients from the last convolutional layer to create a heatmap.</a:t>
            </a:r>
          </a:p>
          <a:p>
            <a:r>
              <a:rPr lang="en-US" dirty="0"/>
              <a:t>Benefit: Increases user trust by highlighting the specific lesions/spots the AI identified as symptoms.</a:t>
            </a:r>
          </a:p>
          <a:p>
            <a:r>
              <a:rPr lang="en-US" dirty="0"/>
              <a:t>Grad-CAM highlights the infected areas on the leaf</a:t>
            </a:r>
          </a:p>
          <a:p>
            <a:r>
              <a:rPr lang="en-US" dirty="0"/>
              <a:t>Increases trust and transparency of the model</a:t>
            </a:r>
          </a:p>
          <a:p>
            <a:r>
              <a:rPr lang="en-US" dirty="0"/>
              <a:t>Helps users understand why a disease is predicted </a:t>
            </a:r>
          </a:p>
          <a:p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997DAC-11C2-CD03-9CB3-6EBF297030EF}"/>
              </a:ext>
            </a:extLst>
          </p:cNvPr>
          <p:cNvSpPr txBox="1"/>
          <p:nvPr/>
        </p:nvSpPr>
        <p:spPr>
          <a:xfrm>
            <a:off x="6278880" y="6049944"/>
            <a:ext cx="4916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https://cobalt-oxidation-rockfish.ngrok-free.dev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49787891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1A0CF-E0CC-5F51-7D8C-FF198A71D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128" y="141862"/>
            <a:ext cx="7958331" cy="1077229"/>
          </a:xfrm>
        </p:spPr>
        <p:txBody>
          <a:bodyPr/>
          <a:lstStyle/>
          <a:p>
            <a:pPr algn="l"/>
            <a:r>
              <a:rPr lang="en-IN" dirty="0"/>
              <a:t>RESULTS</a:t>
            </a:r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F842CC-43FF-BD42-FE8A-DAC27D562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905" y="629920"/>
            <a:ext cx="5993754" cy="59209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470F4A-0498-76BC-5C22-D7DACA7870A4}"/>
              </a:ext>
            </a:extLst>
          </p:cNvPr>
          <p:cNvSpPr txBox="1"/>
          <p:nvPr/>
        </p:nvSpPr>
        <p:spPr>
          <a:xfrm>
            <a:off x="8940800" y="260588"/>
            <a:ext cx="1813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Model Accuracy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BBBDEBD7-EBED-CBB1-12B4-C757F7CB5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0898" y="1161160"/>
            <a:ext cx="3903568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graph shows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and validation accuracy over epochs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🔵 Training accuracy increases from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56% to 90%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🟠 Validation accuracy improves from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70% to around 88–90%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3204340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E260B4-08D9-9A83-0630-0D6A0BECAE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665" y="260791"/>
            <a:ext cx="6367311" cy="5720227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F1230895-2A9C-503F-A61F-F7C35DE347C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845595" y="811690"/>
            <a:ext cx="404817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Confusion Matrix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Arial" panose="020B0604020202020204" pitchFamily="34" charset="0"/>
              </a:rPr>
              <a:t>Confusion Matrix shows actual vs predicted results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Arial" panose="020B0604020202020204" pitchFamily="34" charset="0"/>
              </a:rPr>
              <a:t>Diagonal values represent correct predictions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dirty="0">
                <a:latin typeface="Arial" panose="020B0604020202020204" pitchFamily="34" charset="0"/>
              </a:rPr>
              <a:t>Off-diagonal values represent misclassifications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r>
              <a:rPr lang="en-US" dirty="0"/>
              <a:t>F1 Score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Measures balance between Precision and Recall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Useful for evaluating model performance on all classes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High F1 Score indicates accurate and reliable predictions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1413142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C6D3F-8655-309C-9358-E3558FAFD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AU" b="1" dirty="0"/>
              <a:t>FUTURE ENHANCEMENTS</a:t>
            </a:r>
            <a:br>
              <a:rPr lang="en-AU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FCB70-E682-F650-20B1-0D7DA0196A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In future, this project can be improved by:</a:t>
            </a:r>
          </a:p>
          <a:p>
            <a:pPr lvl="0"/>
            <a:r>
              <a:rPr lang="en-AU" dirty="0"/>
              <a:t>Real-time live camera detection </a:t>
            </a:r>
          </a:p>
          <a:p>
            <a:pPr lvl="0"/>
            <a:r>
              <a:rPr lang="en-AU" dirty="0"/>
              <a:t>Mobile application development </a:t>
            </a:r>
          </a:p>
          <a:p>
            <a:pPr lvl="0"/>
            <a:r>
              <a:rPr lang="en-AU" dirty="0"/>
              <a:t>Support for more crop types </a:t>
            </a:r>
          </a:p>
          <a:p>
            <a:pPr lvl="0"/>
            <a:r>
              <a:rPr lang="en-AU" dirty="0"/>
              <a:t>Integration of AI chatbot for farmers </a:t>
            </a:r>
          </a:p>
          <a:p>
            <a:pPr lvl="0"/>
            <a:r>
              <a:rPr lang="en-AU" dirty="0"/>
              <a:t>Cloud deployment for large-scale usage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8994626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DE4C6-B01C-0FC2-C964-A63BAEA11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Conclusion</a:t>
            </a:r>
            <a:br>
              <a:rPr lang="en-US" b="1" dirty="0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63A30-C037-168E-66A0-E1CDA4EE3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7199" y="1147876"/>
            <a:ext cx="7796540" cy="3997828"/>
          </a:xfrm>
        </p:spPr>
        <p:txBody>
          <a:bodyPr/>
          <a:lstStyle/>
          <a:p>
            <a:pPr algn="just"/>
            <a:r>
              <a:rPr lang="en-US" dirty="0"/>
              <a:t>This project demonstrates an effective use of deep learning for plant disease detection. The system provides accurate predictions and helps farmers take timely action to protect crops. It serves as a step towards smart agriculture using Artificial Intelligence.</a:t>
            </a:r>
          </a:p>
          <a:p>
            <a:pPr algn="just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1236391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2FF42-4C24-709E-A13B-2F0552792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9359" y="1430086"/>
            <a:ext cx="7796540" cy="39978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5400" dirty="0">
                <a:solidFill>
                  <a:schemeClr val="accent1">
                    <a:lumMod val="50000"/>
                  </a:schemeClr>
                </a:solidFill>
              </a:rPr>
              <a:t>THANK YOU</a:t>
            </a:r>
            <a:endParaRPr lang="en-AU" sz="5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191081-6C59-CC75-7DC1-92F63DA0323B}"/>
              </a:ext>
            </a:extLst>
          </p:cNvPr>
          <p:cNvSpPr txBox="1"/>
          <p:nvPr/>
        </p:nvSpPr>
        <p:spPr>
          <a:xfrm>
            <a:off x="6350000" y="6136640"/>
            <a:ext cx="4916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https://cobalt-oxidation-rockfish.ngrok-free.dev</a:t>
            </a:r>
          </a:p>
        </p:txBody>
      </p:sp>
    </p:spTree>
    <p:extLst>
      <p:ext uri="{BB962C8B-B14F-4D97-AF65-F5344CB8AC3E}">
        <p14:creationId xmlns:p14="http://schemas.microsoft.com/office/powerpoint/2010/main" val="2311081542"/>
      </p:ext>
    </p:extLst>
  </p:cSld>
  <p:clrMapOvr>
    <a:masterClrMapping/>
  </p:clrMapOvr>
  <p:transition spd="slow">
    <p:randomBar dir="vert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{1010FE5E-8A72-4A02-AE31-5C88F6E45380}TF37254b02-f5b5-44b0-803d-e6af9466a024d8712c6d-28d3f990fef7</Template>
  <TotalTime>269</TotalTime>
  <Words>695</Words>
  <Application>Microsoft Office PowerPoint</Application>
  <PresentationFormat>Widescreen</PresentationFormat>
  <Paragraphs>80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MS Shell Dlg 2</vt:lpstr>
      <vt:lpstr>Wingdings</vt:lpstr>
      <vt:lpstr>Wingdings 3</vt:lpstr>
      <vt:lpstr>Madison</vt:lpstr>
      <vt:lpstr>SAMSUNG INNOVATION CAMPUS  Project : AI-Enabled Crop Disease Detection via Smartphone Images  Subtitle: Leveraging Deep Learning and Explainable AI for Precision Agriculture  </vt:lpstr>
      <vt:lpstr>PROBLEM STATEMENT</vt:lpstr>
      <vt:lpstr>To develop a deep learning model for plant disease classification To automate disease detection using leaf images To provide instant prediction results with remedies To build a user-friendly web interface for farmers </vt:lpstr>
      <vt:lpstr>INTRODUCTION </vt:lpstr>
      <vt:lpstr>DATASET DESCRIPTION </vt:lpstr>
      <vt:lpstr>TECHNOLOGIES USED </vt:lpstr>
      <vt:lpstr>SYSTEM ARCHITECTURE</vt:lpstr>
      <vt:lpstr>AI Model ArchitectureType:  Convolutional Neural Network (CNN).Structure:</vt:lpstr>
      <vt:lpstr>How it works CNN  Input Image: A plant leaf image is given to the system   Convolution Layer:  Detects important features from the image  Finds patterns like edges, spots, and textures   Pooling Layer:  Reduces image size  Keeps only important features  Makes processing faster   Fully Connected Layer:  Analyzes extracted features  Makes final decision   Output:  Shows result as Disease or Healthy leaf  Also gives confidence score     </vt:lpstr>
      <vt:lpstr>Explainable AI (Grad-CAM) </vt:lpstr>
      <vt:lpstr>RESULTS</vt:lpstr>
      <vt:lpstr>PowerPoint Presentation</vt:lpstr>
      <vt:lpstr>FUTURE ENHANCEMENTS </vt:lpstr>
      <vt:lpstr>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jyoti jadhav</dc:creator>
  <cp:lastModifiedBy>jyoti jadhav</cp:lastModifiedBy>
  <cp:revision>8</cp:revision>
  <dcterms:created xsi:type="dcterms:W3CDTF">2026-04-23T03:48:18Z</dcterms:created>
  <dcterms:modified xsi:type="dcterms:W3CDTF">2026-04-29T04:21:55Z</dcterms:modified>
</cp:coreProperties>
</file>